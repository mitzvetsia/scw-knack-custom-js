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D8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TEAM  ·  PROCESS PITCH  ·  JULY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survey to signed.
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C9D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cleaner path to the final proposal.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changes that automate the front of the pipeline, put Sales in the room with the client, and turn TO DO into the queue that ships client-facing final proposals.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1938528" cy="841248"/>
          </a:xfrm>
          <a:prstGeom prst="roundRect">
            <a:avLst>
              <a:gd name="adj" fmla="val 9783"/>
            </a:avLst>
          </a:prstGeom>
          <a:solidFill>
            <a:srgbClr val="283140"/>
          </a:solidFill>
          <a:ln w="15875">
            <a:solidFill>
              <a:srgbClr val="ED83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5385816"/>
            <a:ext cx="310896" cy="310896"/>
          </a:xfrm>
          <a:prstGeom prst="ellipse">
            <a:avLst/>
          </a:prstGeom>
          <a:solidFill>
            <a:srgbClr val="ED8326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512064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0068" y="5422392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45536" y="5120640"/>
            <a:ext cx="1938528" cy="841248"/>
          </a:xfrm>
          <a:prstGeom prst="roundRect">
            <a:avLst>
              <a:gd name="adj" fmla="val 9783"/>
            </a:avLst>
          </a:prstGeom>
          <a:solidFill>
            <a:srgbClr val="283140"/>
          </a:solidFill>
          <a:ln w="15875">
            <a:solidFill>
              <a:srgbClr val="ED83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5385816"/>
            <a:ext cx="310896" cy="310896"/>
          </a:xfrm>
          <a:prstGeom prst="ellipse">
            <a:avLst/>
          </a:prstGeom>
          <a:solidFill>
            <a:srgbClr val="ED8326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94176" y="512064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644" y="5422392"/>
            <a:ext cx="237744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68112" y="5120640"/>
            <a:ext cx="1938528" cy="841248"/>
          </a:xfrm>
          <a:prstGeom prst="roundRect">
            <a:avLst>
              <a:gd name="adj" fmla="val 9783"/>
            </a:avLst>
          </a:prstGeom>
          <a:solidFill>
            <a:srgbClr val="283140"/>
          </a:solidFill>
          <a:ln w="15875">
            <a:solidFill>
              <a:srgbClr val="124E8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14416" y="5385816"/>
            <a:ext cx="310896" cy="310896"/>
          </a:xfrm>
          <a:prstGeom prst="ellipse">
            <a:avLst/>
          </a:prstGeom>
          <a:solidFill>
            <a:srgbClr val="124E85"/>
          </a:solidFill>
          <a:ln/>
        </p:spPr>
      </p:sp>
      <p:sp>
        <p:nvSpPr>
          <p:cNvPr id="17" name="Text 13"/>
          <p:cNvSpPr/>
          <p:nvPr/>
        </p:nvSpPr>
        <p:spPr>
          <a:xfrm>
            <a:off x="5614416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016752" y="512064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reviews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client</a:t>
            </a:r>
            <a:endParaRPr lang="en-US" sz="11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0" y="5422392"/>
            <a:ext cx="237744" cy="2377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790688" y="5120640"/>
            <a:ext cx="1938528" cy="841248"/>
          </a:xfrm>
          <a:prstGeom prst="roundRect">
            <a:avLst>
              <a:gd name="adj" fmla="val 9783"/>
            </a:avLst>
          </a:prstGeom>
          <a:solidFill>
            <a:srgbClr val="283140"/>
          </a:solidFill>
          <a:ln w="15875">
            <a:solidFill>
              <a:srgbClr val="124E8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936992" y="5385816"/>
            <a:ext cx="310896" cy="310896"/>
          </a:xfrm>
          <a:prstGeom prst="ellipse">
            <a:avLst/>
          </a:prstGeom>
          <a:solidFill>
            <a:srgbClr val="124E85"/>
          </a:solidFill>
          <a:ln/>
        </p:spPr>
      </p:sp>
      <p:sp>
        <p:nvSpPr>
          <p:cNvPr id="22" name="Text 17"/>
          <p:cNvSpPr/>
          <p:nvPr/>
        </p:nvSpPr>
        <p:spPr>
          <a:xfrm>
            <a:off x="7936992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339328" y="512064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796" y="5422392"/>
            <a:ext cx="237744" cy="23774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113264" y="5120640"/>
            <a:ext cx="1938528" cy="841248"/>
          </a:xfrm>
          <a:prstGeom prst="roundRect">
            <a:avLst>
              <a:gd name="adj" fmla="val 9783"/>
            </a:avLst>
          </a:prstGeom>
          <a:solidFill>
            <a:srgbClr val="283140"/>
          </a:solidFill>
          <a:ln w="15875">
            <a:solidFill>
              <a:srgbClr val="5F6B7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259568" y="5385816"/>
            <a:ext cx="310896" cy="310896"/>
          </a:xfrm>
          <a:prstGeom prst="ellipse">
            <a:avLst/>
          </a:prstGeom>
          <a:solidFill>
            <a:srgbClr val="5F6B7A"/>
          </a:solidFill>
          <a:ln/>
        </p:spPr>
      </p:sp>
      <p:sp>
        <p:nvSpPr>
          <p:cNvPr id="27" name="Text 21"/>
          <p:cNvSpPr/>
          <p:nvPr/>
        </p:nvSpPr>
        <p:spPr>
          <a:xfrm>
            <a:off x="10259568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661904" y="512064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ships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proposal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change anything?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flow works — but it leaks time in four predictable places.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230368" cy="2084832"/>
          </a:xfrm>
          <a:prstGeom prst="roundRect">
            <a:avLst>
              <a:gd name="adj" fmla="val 4386"/>
            </a:avLst>
          </a:prstGeom>
          <a:solidFill>
            <a:srgbClr val="F6F8FA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566928" cy="566928"/>
          </a:xfrm>
          <a:prstGeom prst="ellipse">
            <a:avLst/>
          </a:prstGeom>
          <a:solidFill>
            <a:srgbClr val="EFF2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868" y="234543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194560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first sync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15568" y="2889504"/>
            <a:ext cx="4645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survey, the first SVS bid gets hand-carried into the SOW. Copy work, delay, and transcription risk before anything real happens.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10528" y="1920240"/>
            <a:ext cx="5230368" cy="2084832"/>
          </a:xfrm>
          <a:prstGeom prst="roundRect">
            <a:avLst>
              <a:gd name="adj" fmla="val 4386"/>
            </a:avLst>
          </a:prstGeom>
          <a:solidFill>
            <a:srgbClr val="F6F8FA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84848" y="2212848"/>
            <a:ext cx="566928" cy="566928"/>
          </a:xfrm>
          <a:prstGeom prst="ellipse">
            <a:avLst/>
          </a:prstGeom>
          <a:solidFill>
            <a:srgbClr val="EFF2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36" y="23454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34656" y="2194560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Bid" has no clear owner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803136" y="2889504"/>
            <a:ext cx="4645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ends up reviewing scope without the client in the room — so the review answers the wrong question, or answers it twice.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389120"/>
            <a:ext cx="5230368" cy="2084832"/>
          </a:xfrm>
          <a:prstGeom prst="roundRect">
            <a:avLst>
              <a:gd name="adj" fmla="val 4386"/>
            </a:avLst>
          </a:prstGeom>
          <a:solidFill>
            <a:srgbClr val="F6F8FA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4681728"/>
            <a:ext cx="566928" cy="566928"/>
          </a:xfrm>
          <a:prstGeom prst="ellipse">
            <a:avLst/>
          </a:prstGeom>
          <a:solidFill>
            <a:srgbClr val="EFF2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68" y="481431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4663440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 arrive without direction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115568" y="5358384"/>
            <a:ext cx="4645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revision request tells us something changed, not what shape the SOW should take. We guess, rework, and loop.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10528" y="4389120"/>
            <a:ext cx="5230368" cy="2084832"/>
          </a:xfrm>
          <a:prstGeom prst="roundRect">
            <a:avLst>
              <a:gd name="adj" fmla="val 4386"/>
            </a:avLst>
          </a:prstGeom>
          <a:solidFill>
            <a:srgbClr val="F6F8FA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84848" y="4681728"/>
            <a:ext cx="566928" cy="566928"/>
          </a:xfrm>
          <a:prstGeom prst="ellipse">
            <a:avLst/>
          </a:prstGeom>
          <a:solidFill>
            <a:srgbClr val="EFF2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481431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34656" y="4663440"/>
            <a:ext cx="3950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queue, no single deliverable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803136" y="5358384"/>
            <a:ext cx="4645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 and revisions live in different places with different definitions of "done." Nothing on the board says "this ends in a client-facing proposal."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flow at a glance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who owns the step. Automation feeds Sales; Sales feeds Services a direction, not a mystery.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307696" y="1965960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5440" y="2221992"/>
            <a:ext cx="603504" cy="603504"/>
          </a:xfrm>
          <a:prstGeom prst="ellipse">
            <a:avLst/>
          </a:prstGeom>
          <a:solidFill>
            <a:srgbClr val="FDF3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316" y="2372868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43888" y="2221992"/>
            <a:ext cx="365760" cy="365760"/>
          </a:xfrm>
          <a:prstGeom prst="ellipse">
            <a:avLst/>
          </a:prstGeom>
          <a:solidFill>
            <a:srgbClr val="ED8326"/>
          </a:solidFill>
          <a:ln/>
        </p:spPr>
      </p:sp>
      <p:sp>
        <p:nvSpPr>
          <p:cNvPr id="8" name="Text 5"/>
          <p:cNvSpPr/>
          <p:nvPr/>
        </p:nvSpPr>
        <p:spPr>
          <a:xfrm>
            <a:off x="1843888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5440" y="299008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D8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5440" y="3264408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Preliminary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5440" y="406908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project drops straight into Create Preliminary. Standard starting line, no setup.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66848" y="1965960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04592" y="2221992"/>
            <a:ext cx="603504" cy="603504"/>
          </a:xfrm>
          <a:prstGeom prst="ellipse">
            <a:avLst/>
          </a:prstGeom>
          <a:solidFill>
            <a:srgbClr val="FDF3E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468" y="2372868"/>
            <a:ext cx="301752" cy="3017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03040" y="2221992"/>
            <a:ext cx="365760" cy="365760"/>
          </a:xfrm>
          <a:prstGeom prst="ellipse">
            <a:avLst/>
          </a:prstGeom>
          <a:solidFill>
            <a:srgbClr val="ED8326"/>
          </a:solidFill>
          <a:ln/>
        </p:spPr>
      </p:sp>
      <p:sp>
        <p:nvSpPr>
          <p:cNvPr id="16" name="Text 12"/>
          <p:cNvSpPr/>
          <p:nvPr/>
        </p:nvSpPr>
        <p:spPr>
          <a:xfrm>
            <a:off x="420304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904592" y="299008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D8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904592" y="3264408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bid auto-syncs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04592" y="406908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SVS bid after the survey syncs itself into the SOW. No hand-copying — the SOW starts itself.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6000" y="1965960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63744" y="2221992"/>
            <a:ext cx="603504" cy="603504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620" y="2372868"/>
            <a:ext cx="301752" cy="30175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62192" y="2221992"/>
            <a:ext cx="365760" cy="365760"/>
          </a:xfrm>
          <a:prstGeom prst="ellipse">
            <a:avLst/>
          </a:prstGeom>
          <a:solidFill>
            <a:srgbClr val="124E85"/>
          </a:solidFill>
          <a:ln/>
        </p:spPr>
      </p:sp>
      <p:sp>
        <p:nvSpPr>
          <p:cNvPr id="24" name="Text 19"/>
          <p:cNvSpPr/>
          <p:nvPr/>
        </p:nvSpPr>
        <p:spPr>
          <a:xfrm>
            <a:off x="656219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263744" y="299008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263744" y="3264408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Bid — with the client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263744" y="406908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reviews the scope with the client: direction, changes, and the shape the SOW should take.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385152" y="1965960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622896" y="2221992"/>
            <a:ext cx="603504" cy="603504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3772" y="2372868"/>
            <a:ext cx="301752" cy="30175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921344" y="2221992"/>
            <a:ext cx="365760" cy="365760"/>
          </a:xfrm>
          <a:prstGeom prst="ellipse">
            <a:avLst/>
          </a:prstGeom>
          <a:solidFill>
            <a:srgbClr val="124E85"/>
          </a:solidFill>
          <a:ln/>
        </p:spPr>
      </p:sp>
      <p:sp>
        <p:nvSpPr>
          <p:cNvPr id="32" name="Text 26"/>
          <p:cNvSpPr/>
          <p:nvPr/>
        </p:nvSpPr>
        <p:spPr>
          <a:xfrm>
            <a:off x="8921344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622896" y="299008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7622896" y="3264408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request or note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622896" y="406908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submits a revision request — or a note — with explicit direction on how to shape the SOW.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744304" y="1965960"/>
            <a:ext cx="2139696" cy="32004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982048" y="2221992"/>
            <a:ext cx="603504" cy="603504"/>
          </a:xfrm>
          <a:prstGeom prst="ellipse">
            <a:avLst/>
          </a:prstGeom>
          <a:solidFill>
            <a:srgbClr val="EFF2F5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924" y="2372868"/>
            <a:ext cx="301752" cy="301752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1280496" y="2221992"/>
            <a:ext cx="365760" cy="365760"/>
          </a:xfrm>
          <a:prstGeom prst="ellipse">
            <a:avLst/>
          </a:prstGeom>
          <a:solidFill>
            <a:srgbClr val="5F6B7A"/>
          </a:solidFill>
          <a:ln/>
        </p:spPr>
      </p:sp>
      <p:sp>
        <p:nvSpPr>
          <p:cNvPr id="40" name="Text 33"/>
          <p:cNvSpPr/>
          <p:nvPr/>
        </p:nvSpPr>
        <p:spPr>
          <a:xfrm>
            <a:off x="11280496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9982048" y="299008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9982048" y="3264408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→ Final Proposal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982048" y="406908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finals and revisions both land in TO DO. The deliverable: a client-facing final proposal.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3626968" y="5678424"/>
            <a:ext cx="201168" cy="201168"/>
          </a:xfrm>
          <a:prstGeom prst="ellipse">
            <a:avLst/>
          </a:prstGeom>
          <a:solidFill>
            <a:srgbClr val="ED8326"/>
          </a:solidFill>
          <a:ln/>
        </p:spPr>
      </p:sp>
      <p:sp>
        <p:nvSpPr>
          <p:cNvPr id="45" name="Text 38"/>
          <p:cNvSpPr/>
          <p:nvPr/>
        </p:nvSpPr>
        <p:spPr>
          <a:xfrm>
            <a:off x="3901288" y="5623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5318608" y="5678424"/>
            <a:ext cx="201168" cy="201168"/>
          </a:xfrm>
          <a:prstGeom prst="ellipse">
            <a:avLst/>
          </a:prstGeom>
          <a:solidFill>
            <a:srgbClr val="124E85"/>
          </a:solidFill>
          <a:ln/>
        </p:spPr>
      </p:sp>
      <p:sp>
        <p:nvSpPr>
          <p:cNvPr id="47" name="Text 40"/>
          <p:cNvSpPr/>
          <p:nvPr/>
        </p:nvSpPr>
        <p:spPr>
          <a:xfrm>
            <a:off x="5592928" y="5623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7010248" y="5678424"/>
            <a:ext cx="201168" cy="201168"/>
          </a:xfrm>
          <a:prstGeom prst="ellipse">
            <a:avLst/>
          </a:prstGeom>
          <a:solidFill>
            <a:srgbClr val="5F6B7A"/>
          </a:solidFill>
          <a:ln/>
        </p:spPr>
      </p:sp>
      <p:sp>
        <p:nvSpPr>
          <p:cNvPr id="49" name="Text 42"/>
          <p:cNvSpPr/>
          <p:nvPr/>
        </p:nvSpPr>
        <p:spPr>
          <a:xfrm>
            <a:off x="7284568" y="5623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D8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1 &amp; 2  ·  AUTOMATED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 of the pipeline runs itself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583680" cy="1965960"/>
          </a:xfrm>
          <a:prstGeom prst="roundRect">
            <a:avLst>
              <a:gd name="adj" fmla="val 4651"/>
            </a:avLst>
          </a:prstGeom>
          <a:solidFill>
            <a:srgbClr val="F6F8FA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121408"/>
            <a:ext cx="585216" cy="585216"/>
          </a:xfrm>
          <a:prstGeom prst="ellipse">
            <a:avLst/>
          </a:prstGeom>
          <a:solidFill>
            <a:srgbClr val="FDF3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2677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83664" y="208483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projects drop into Create Preliminary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33856" y="2834640"/>
            <a:ext cx="5961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project lands in the same column, day one. No triage decision, no "where does this one start?" — the board answers it for you.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6583680" cy="1965960"/>
          </a:xfrm>
          <a:prstGeom prst="roundRect">
            <a:avLst>
              <a:gd name="adj" fmla="val 4651"/>
            </a:avLst>
          </a:prstGeom>
          <a:solidFill>
            <a:srgbClr val="F6F8FA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15568" y="4453128"/>
            <a:ext cx="585216" cy="585216"/>
          </a:xfrm>
          <a:prstGeom prst="ellipse">
            <a:avLst/>
          </a:prstGeom>
          <a:solidFill>
            <a:srgbClr val="FDF3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5994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83664" y="441655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SVS bid auto-syncs to the SOW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133856" y="5166360"/>
            <a:ext cx="5961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time SVS drops a bid after the survey, it syncs to the SOW automatically. Later bids and revisions still flow through review — only the first one skips the line, because there is nothing to review it against yet.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772400" y="18288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1E252E"/>
          </a:solidFill>
          <a:ln/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724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D8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800" dirty="0"/>
          </a:p>
        </p:txBody>
      </p:sp>
      <p:sp>
        <p:nvSpPr>
          <p:cNvPr id="16" name="Text 12"/>
          <p:cNvSpPr/>
          <p:nvPr/>
        </p:nvSpPr>
        <p:spPr>
          <a:xfrm>
            <a:off x="7772400" y="3794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hand-copied bids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183880" y="43891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SOW starts itself the moment the first post-survey bid lands — Services picks up work that already exists instead of transcribing it into existence.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3 &amp; 4  ·  SALES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owns Review Bid — with the client in the room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48840"/>
            <a:ext cx="585216" cy="585216"/>
          </a:xfrm>
          <a:prstGeom prst="ellipse">
            <a:avLst/>
          </a:prstGeom>
          <a:solidFill>
            <a:srgbClr val="124E8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2951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305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88720" y="292608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scope with the client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desk check — a conversation. The client hears the scope before it hardens.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direction and changes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stays, what moves, what the client actually wants different.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shape the SOW should take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leaves the review knowing what "done" looks like — and writes it down.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4983480" cy="4206240"/>
          </a:xfrm>
          <a:prstGeom prst="roundRect">
            <a:avLst>
              <a:gd name="adj" fmla="val 2174"/>
            </a:avLst>
          </a:prstGeom>
          <a:solidFill>
            <a:srgbClr val="F6F8FA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148840"/>
            <a:ext cx="585216" cy="585216"/>
          </a:xfrm>
          <a:prstGeom prst="ellipse">
            <a:avLst/>
          </a:prstGeom>
          <a:solidFill>
            <a:srgbClr val="EAF1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2951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3055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out of it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66560" y="29718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submits a revision request — or a note — with explicit direction on how to shape the SOW.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766560" y="3840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every item that reaches Services carries client-confirmed intent. We stop reconstructing what the client probably meant from a bid diff.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766560" y="4937760"/>
            <a:ext cx="4251960" cy="777240"/>
          </a:xfrm>
          <a:prstGeom prst="roundRect">
            <a:avLst>
              <a:gd name="adj" fmla="val 10588"/>
            </a:avLst>
          </a:prstGeom>
          <a:solidFill>
            <a:srgbClr val="124E85"/>
          </a:solidFill>
          <a:ln/>
        </p:spPr>
      </p:sp>
      <p:sp>
        <p:nvSpPr>
          <p:cNvPr id="16" name="Text 12"/>
          <p:cNvSpPr/>
          <p:nvPr/>
        </p:nvSpPr>
        <p:spPr>
          <a:xfrm>
            <a:off x="6766560" y="4937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reviewing in the dark.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5  ·  SERVICES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DO becomes the new Review Bid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F6F8FA"/>
          </a:solidFill>
          <a:ln w="12700">
            <a:solidFill>
              <a:srgbClr val="DFE5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70432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3347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25328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Bid is an internal gate with a fuzzy deliverable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38328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328269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 and revisions tracked in different places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1330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6192" y="403250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arrives late — or gets inferred by Services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0" y="182880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F1F8F4"/>
          </a:solidFill>
          <a:ln w="12700">
            <a:solidFill>
              <a:srgbClr val="CFE5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748272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63347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14032" y="25328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queue: new finals AND revisions both land in TO DO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3383280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14032" y="328269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deliverable: a client-facing final proposal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13308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14032" y="403250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arrives attached — client-confirmed, in writing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822960" y="5120640"/>
            <a:ext cx="10561320" cy="1051560"/>
          </a:xfrm>
          <a:prstGeom prst="roundRect">
            <a:avLst>
              <a:gd name="adj" fmla="val 8696"/>
            </a:avLst>
          </a:prstGeom>
          <a:solidFill>
            <a:srgbClr val="1E252E"/>
          </a:solidFill>
          <a:ln/>
          <a:effectLst>
            <a:outerShdw sx="100000" sy="100000" kx="0" ky="0" algn="bl" rotWithShape="0" blurRad="88900" dist="25400" dir="5400000">
              <a:srgbClr val="9AA4AE">
                <a:alpha val="2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1143000" y="5372100"/>
            <a:ext cx="548640" cy="548640"/>
          </a:xfrm>
          <a:prstGeom prst="ellipse">
            <a:avLst/>
          </a:prstGeom>
          <a:solidFill>
            <a:srgbClr val="ED8326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550926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874520" y="512064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of done in TO DO: </a:t>
            </a:r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proposal the client can be handed.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D8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PITCH, IN THREE LINES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61320" cy="1078992"/>
          </a:xfrm>
          <a:prstGeom prst="roundRect">
            <a:avLst>
              <a:gd name="adj" fmla="val 8475"/>
            </a:avLst>
          </a:prstGeom>
          <a:solidFill>
            <a:srgbClr val="283140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2157984"/>
            <a:ext cx="603504" cy="603504"/>
          </a:xfrm>
          <a:prstGeom prst="ellipse">
            <a:avLst/>
          </a:prstGeom>
          <a:solidFill>
            <a:srgbClr val="ED83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44" y="2308860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391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copying, more building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65960" y="245059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start themselves in Create Preliminary and the first bid syncs itself into the SOW. Your time starts where the judgment starts.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236976"/>
            <a:ext cx="10561320" cy="1078992"/>
          </a:xfrm>
          <a:prstGeom prst="roundRect">
            <a:avLst>
              <a:gd name="adj" fmla="val 8475"/>
            </a:avLst>
          </a:prstGeom>
          <a:solidFill>
            <a:srgbClr val="283140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3474720"/>
            <a:ext cx="603504" cy="603504"/>
          </a:xfrm>
          <a:prstGeom prst="ellipse">
            <a:avLst/>
          </a:prstGeom>
          <a:solidFill>
            <a:srgbClr val="124E8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362559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3558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arrives with direction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965960" y="37673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has already reviewed the scope with the client and written down the shape the SOW should take before it reaches you.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553712"/>
            <a:ext cx="10561320" cy="1078992"/>
          </a:xfrm>
          <a:prstGeom prst="roundRect">
            <a:avLst>
              <a:gd name="adj" fmla="val 8475"/>
            </a:avLst>
          </a:prstGeom>
          <a:solidFill>
            <a:srgbClr val="283140"/>
          </a:solidFill>
          <a:ln/>
        </p:spPr>
      </p:sp>
      <p:sp>
        <p:nvSpPr>
          <p:cNvPr id="15" name="Shape 11"/>
          <p:cNvSpPr/>
          <p:nvPr/>
        </p:nvSpPr>
        <p:spPr>
          <a:xfrm>
            <a:off x="1115568" y="4791456"/>
            <a:ext cx="603504" cy="603504"/>
          </a:xfrm>
          <a:prstGeom prst="ellipse">
            <a:avLst/>
          </a:prstGeom>
          <a:solidFill>
            <a:srgbClr val="5F6B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494233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67258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queue, one deliverable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65960" y="508406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 and revisions land in TO DO, and everything there points at the same finish line: a client-facing final proposal.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598932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</a:t>
            </a:r>
            <a:pPr indent="0" marL="0">
              <a:buNone/>
            </a:pPr>
            <a:r>
              <a:rPr lang="en-US" sz="16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this flow against your live projects this week — bring the edge cases, and we lock the board.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2026-07-20T18:41:45Z</dcterms:created>
  <dcterms:modified xsi:type="dcterms:W3CDTF">2026-07-20T18:41:45Z</dcterms:modified>
</cp:coreProperties>
</file>